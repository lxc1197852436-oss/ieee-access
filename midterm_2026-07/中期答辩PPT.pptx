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8803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360"/>
            <a:ext cx="12191695" cy="2057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0"/>
            <a:ext cx="11064240" cy="1645920"/>
          </a:xfrm>
          <a:prstGeom prst="rect">
            <a:avLst/>
          </a:prstGeom>
          <a:noFill/>
        </p:spPr>
        <p:txBody>
          <a:bodyPr wrap="square">
            <a:spAutoFit/>
          </a:bodyPr>
          <a:lstStyle/>
          <a:p>
            <a:pPr algn="ctr"/>
            <a:r>
              <a:rPr sz="3600" b="1">
                <a:solidFill>
                  <a:srgbClr val="FFFFFF"/>
                </a:solidFill>
                <a:latin typeface="微软雅黑"/>
              </a:rPr>
              <a:t>大语言模型与深度强化学习融合的
虚拟电厂动态优化与决策研究</a:t>
            </a:r>
          </a:p>
        </p:txBody>
      </p:sp>
      <p:sp>
        <p:nvSpPr>
          <p:cNvPr id="5" name="TextBox 4"/>
          <p:cNvSpPr txBox="1"/>
          <p:nvPr/>
        </p:nvSpPr>
        <p:spPr>
          <a:xfrm>
            <a:off x="548640" y="3383280"/>
            <a:ext cx="11064240" cy="2194560"/>
          </a:xfrm>
          <a:prstGeom prst="rect">
            <a:avLst/>
          </a:prstGeom>
          <a:noFill/>
        </p:spPr>
        <p:txBody>
          <a:bodyPr wrap="square">
            <a:spAutoFit/>
          </a:bodyPr>
          <a:lstStyle/>
          <a:p>
            <a:pPr algn="ctr">
              <a:spcAft>
                <a:spcPts val="800"/>
              </a:spcAft>
            </a:pPr>
            <a:r>
              <a:rPr sz="2000">
                <a:solidFill>
                  <a:srgbClr val="555555"/>
                </a:solidFill>
                <a:latin typeface="微软雅黑"/>
              </a:rPr>
              <a:t>研究生：李星辰</a:t>
            </a:r>
          </a:p>
          <a:p>
            <a:pPr algn="ctr">
              <a:spcAft>
                <a:spcPts val="800"/>
              </a:spcAft>
            </a:pPr>
            <a:r>
              <a:rPr sz="2000">
                <a:solidFill>
                  <a:srgbClr val="555555"/>
                </a:solidFill>
                <a:latin typeface="微软雅黑"/>
              </a:rPr>
              <a:t>导　　师：王继军</a:t>
            </a:r>
          </a:p>
          <a:p>
            <a:pPr algn="ctr">
              <a:spcAft>
                <a:spcPts val="800"/>
              </a:spcAft>
            </a:pPr>
            <a:r>
              <a:rPr sz="2000">
                <a:solidFill>
                  <a:srgbClr val="555555"/>
                </a:solidFill>
                <a:latin typeface="微软雅黑"/>
              </a:rPr>
              <a:t>学　　校：上海电力大学</a:t>
            </a:r>
          </a:p>
          <a:p>
            <a:pPr algn="ctr">
              <a:spcAft>
                <a:spcPts val="800"/>
              </a:spcAft>
            </a:pPr>
            <a:r>
              <a:rPr sz="2000">
                <a:solidFill>
                  <a:srgbClr val="555555"/>
                </a:solidFill>
                <a:latin typeface="微软雅黑"/>
              </a:rPr>
              <a:t>答辩日期：2026 年 7 月 9 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汇报提纲</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一、研究背景与意义</a:t>
            </a:r>
          </a:p>
          <a:p>
            <a:pPr>
              <a:lnSpc>
                <a:spcPct val="125000"/>
              </a:lnSpc>
              <a:spcAft>
                <a:spcPts val="700"/>
              </a:spcAft>
            </a:pPr>
            <a:r>
              <a:rPr sz="1800">
                <a:solidFill>
                  <a:srgbClr val="222222"/>
                </a:solidFill>
                <a:latin typeface="微软雅黑"/>
              </a:rPr>
              <a:t>• 二、研究内容与技术路线</a:t>
            </a:r>
          </a:p>
          <a:p>
            <a:pPr>
              <a:lnSpc>
                <a:spcPct val="125000"/>
              </a:lnSpc>
              <a:spcAft>
                <a:spcPts val="700"/>
              </a:spcAft>
            </a:pPr>
            <a:r>
              <a:rPr sz="1800">
                <a:solidFill>
                  <a:srgbClr val="222222"/>
                </a:solidFill>
                <a:latin typeface="微软雅黑"/>
              </a:rPr>
              <a:t>• 三、已完成研究工作</a:t>
            </a:r>
          </a:p>
          <a:p>
            <a:pPr>
              <a:lnSpc>
                <a:spcPct val="125000"/>
              </a:lnSpc>
              <a:spcAft>
                <a:spcPts val="700"/>
              </a:spcAft>
            </a:pPr>
            <a:r>
              <a:rPr sz="1800">
                <a:solidFill>
                  <a:srgbClr val="222222"/>
                </a:solidFill>
                <a:latin typeface="微软雅黑"/>
              </a:rPr>
              <a:t>• 四、阶段性实验结果</a:t>
            </a:r>
          </a:p>
          <a:p>
            <a:pPr>
              <a:lnSpc>
                <a:spcPct val="125000"/>
              </a:lnSpc>
              <a:spcAft>
                <a:spcPts val="700"/>
              </a:spcAft>
            </a:pPr>
            <a:r>
              <a:rPr sz="1800">
                <a:solidFill>
                  <a:srgbClr val="222222"/>
                </a:solidFill>
                <a:latin typeface="微软雅黑"/>
              </a:rPr>
              <a:t>• 五、主要创新点</a:t>
            </a:r>
          </a:p>
          <a:p>
            <a:pPr>
              <a:lnSpc>
                <a:spcPct val="125000"/>
              </a:lnSpc>
              <a:spcAft>
                <a:spcPts val="700"/>
              </a:spcAft>
            </a:pPr>
            <a:r>
              <a:rPr sz="1800">
                <a:solidFill>
                  <a:srgbClr val="222222"/>
                </a:solidFill>
                <a:latin typeface="微软雅黑"/>
              </a:rPr>
              <a:t>• 六、存在问题与下一步计划</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研究背景：新型电力系统下的 VPP 调度挑战</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双碳目标加新型电力系统 → 高比例新能源接入，源网荷储协同互动</a:t>
            </a:r>
          </a:p>
          <a:p>
            <a:pPr>
              <a:lnSpc>
                <a:spcPct val="125000"/>
              </a:lnSpc>
              <a:spcAft>
                <a:spcPts val="700"/>
              </a:spcAft>
            </a:pPr>
            <a:r>
              <a:rPr sz="1800">
                <a:solidFill>
                  <a:srgbClr val="222222"/>
                </a:solidFill>
                <a:latin typeface="微软雅黑"/>
              </a:rPr>
              <a:t>• 虚拟电厂聚合光伏、储能、可调负荷、电动汽车，参与市场与需求响应</a:t>
            </a:r>
          </a:p>
          <a:p>
            <a:pPr>
              <a:lnSpc>
                <a:spcPct val="125000"/>
              </a:lnSpc>
              <a:spcAft>
                <a:spcPts val="700"/>
              </a:spcAft>
            </a:pPr>
            <a:r>
              <a:rPr sz="1800">
                <a:solidFill>
                  <a:srgbClr val="222222"/>
                </a:solidFill>
                <a:latin typeface="微软雅黑"/>
              </a:rPr>
              <a:t>• VPP 调度面临三重不确定性：负荷/光伏波动、市场价格波动、外部文本事件</a:t>
            </a:r>
          </a:p>
          <a:p>
            <a:pPr>
              <a:lnSpc>
                <a:spcPct val="125000"/>
              </a:lnSpc>
              <a:spcAft>
                <a:spcPts val="700"/>
              </a:spcAft>
            </a:pPr>
            <a:r>
              <a:rPr sz="1600">
                <a:solidFill>
                  <a:srgbClr val="555555"/>
                </a:solidFill>
                <a:latin typeface="微软雅黑"/>
              </a:rPr>
              <a:t>· 气象预警、市场公告、需求响应邀约、新能源消纳提示</a:t>
            </a:r>
          </a:p>
          <a:p>
            <a:pPr>
              <a:lnSpc>
                <a:spcPct val="125000"/>
              </a:lnSpc>
              <a:spcAft>
                <a:spcPts val="700"/>
              </a:spcAft>
            </a:pPr>
            <a:r>
              <a:rPr sz="1800">
                <a:solidFill>
                  <a:srgbClr val="222222"/>
                </a:solidFill>
                <a:latin typeface="微软雅黑"/>
              </a:rPr>
              <a:t>• 关键痛点：文本事件先于数值效应出现，传统优化与仅数值状态 RL 难以利用</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问题动机：文本信息盲区与 LLM 落地风险</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现有 DRL 调度多仅消费数值状态 → 高温/价格尖峰/消纳场景缺少前瞻性</a:t>
            </a:r>
          </a:p>
          <a:p>
            <a:pPr>
              <a:lnSpc>
                <a:spcPct val="125000"/>
              </a:lnSpc>
              <a:spcAft>
                <a:spcPts val="700"/>
              </a:spcAft>
            </a:pPr>
            <a:r>
              <a:rPr sz="1800">
                <a:solidFill>
                  <a:srgbClr val="222222"/>
                </a:solidFill>
                <a:latin typeface="微软雅黑"/>
              </a:rPr>
              <a:t>• LLM 可理解中文事件文本，但直接让其输出调度动作存在风险：</a:t>
            </a:r>
          </a:p>
          <a:p>
            <a:pPr>
              <a:lnSpc>
                <a:spcPct val="125000"/>
              </a:lnSpc>
              <a:spcAft>
                <a:spcPts val="700"/>
              </a:spcAft>
            </a:pPr>
            <a:r>
              <a:rPr sz="1600">
                <a:solidFill>
                  <a:srgbClr val="555555"/>
                </a:solidFill>
                <a:latin typeface="微软雅黑"/>
              </a:rPr>
              <a:t>· 物理可行性（SOC/功率约束）</a:t>
            </a:r>
          </a:p>
          <a:p>
            <a:pPr>
              <a:lnSpc>
                <a:spcPct val="125000"/>
              </a:lnSpc>
              <a:spcAft>
                <a:spcPts val="700"/>
              </a:spcAft>
            </a:pPr>
            <a:r>
              <a:rPr sz="1600">
                <a:solidFill>
                  <a:srgbClr val="555555"/>
                </a:solidFill>
                <a:latin typeface="微软雅黑"/>
              </a:rPr>
              <a:t>· 可审计性与可复现性</a:t>
            </a:r>
          </a:p>
          <a:p>
            <a:pPr>
              <a:lnSpc>
                <a:spcPct val="125000"/>
              </a:lnSpc>
              <a:spcAft>
                <a:spcPts val="700"/>
              </a:spcAft>
            </a:pPr>
            <a:r>
              <a:rPr sz="1600">
                <a:solidFill>
                  <a:srgbClr val="555555"/>
                </a:solidFill>
                <a:latin typeface="微软雅黑"/>
              </a:rPr>
              <a:t>· 市场结算逻辑一致性</a:t>
            </a:r>
          </a:p>
          <a:p>
            <a:pPr>
              <a:lnSpc>
                <a:spcPct val="125000"/>
              </a:lnSpc>
              <a:spcAft>
                <a:spcPts val="700"/>
              </a:spcAft>
            </a:pPr>
            <a:r>
              <a:rPr sz="1800">
                <a:solidFill>
                  <a:srgbClr val="222222"/>
                </a:solidFill>
                <a:latin typeface="微软雅黑"/>
              </a:rPr>
              <a:t>• 本研究立场：LLM 作语义编码器，不作最终决策器</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研究目标与科学问题</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总目标：构建语言增强深度强化学习框架，提升 VPP 储能调度的事件感知能力</a:t>
            </a:r>
          </a:p>
          <a:p>
            <a:pPr>
              <a:lnSpc>
                <a:spcPct val="125000"/>
              </a:lnSpc>
              <a:spcAft>
                <a:spcPts val="700"/>
              </a:spcAft>
            </a:pPr>
            <a:r>
              <a:rPr sz="1800">
                <a:solidFill>
                  <a:srgbClr val="222222"/>
                </a:solidFill>
                <a:latin typeface="微软雅黑"/>
              </a:rPr>
              <a:t>• 科学问题：</a:t>
            </a:r>
          </a:p>
          <a:p>
            <a:pPr>
              <a:lnSpc>
                <a:spcPct val="125000"/>
              </a:lnSpc>
              <a:spcAft>
                <a:spcPts val="700"/>
              </a:spcAft>
            </a:pPr>
            <a:r>
              <a:rPr sz="1600">
                <a:solidFill>
                  <a:srgbClr val="555555"/>
                </a:solidFill>
                <a:latin typeface="微软雅黑"/>
              </a:rPr>
              <a:t>· 如何将中文事件文本结构化为 RL 可用语义特征，且不丧失调度可复现性？</a:t>
            </a:r>
          </a:p>
          <a:p>
            <a:pPr>
              <a:lnSpc>
                <a:spcPct val="125000"/>
              </a:lnSpc>
              <a:spcAft>
                <a:spcPts val="700"/>
              </a:spcAft>
            </a:pPr>
            <a:r>
              <a:rPr sz="1600">
                <a:solidFill>
                  <a:srgbClr val="555555"/>
                </a:solidFill>
                <a:latin typeface="微软雅黑"/>
              </a:rPr>
              <a:t>· 学习 Actor 与确定性语义先验如何分工？权重应否随事件覆盖变化？</a:t>
            </a:r>
          </a:p>
          <a:p>
            <a:pPr>
              <a:lnSpc>
                <a:spcPct val="125000"/>
              </a:lnSpc>
              <a:spcAft>
                <a:spcPts val="700"/>
              </a:spcAft>
            </a:pPr>
            <a:r>
              <a:rPr sz="1600">
                <a:solidFill>
                  <a:srgbClr val="555555"/>
                </a:solidFill>
                <a:latin typeface="微软雅黑"/>
              </a:rPr>
              <a:t>· 当先验未覆盖的新事件类别出现时，LLM 语义特征能否帮助 SAC 适应？</a:t>
            </a:r>
          </a:p>
          <a:p>
            <a:pPr>
              <a:lnSpc>
                <a:spcPct val="125000"/>
              </a:lnSpc>
              <a:spcAft>
                <a:spcPts val="700"/>
              </a:spcAft>
            </a:pPr>
            <a:r>
              <a:rPr sz="1600">
                <a:solidFill>
                  <a:srgbClr val="555555"/>
                </a:solidFill>
                <a:latin typeface="微软雅黑"/>
              </a:rPr>
              <a:t>· 上述适应性是否为仿真产物？能否在真实电价/气象下成立？</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技术路线</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公开数据校准 → VPP 仿真环境 → 文本语义编码 → SAC 训练</a:t>
            </a:r>
          </a:p>
          <a:p>
            <a:pPr>
              <a:lnSpc>
                <a:spcPct val="125000"/>
              </a:lnSpc>
              <a:spcAft>
                <a:spcPts val="700"/>
              </a:spcAft>
            </a:pPr>
            <a:r>
              <a:rPr sz="1800">
                <a:solidFill>
                  <a:srgbClr val="222222"/>
                </a:solidFill>
                <a:latin typeface="微软雅黑"/>
              </a:rPr>
              <a:t>• → 语义安全层 → 多场景评估 → 新事件自适应 → 真实电价验证 → 学习型门控</a:t>
            </a:r>
          </a:p>
          <a:p>
            <a:pPr>
              <a:lnSpc>
                <a:spcPct val="125000"/>
              </a:lnSpc>
              <a:spcAft>
                <a:spcPts val="700"/>
              </a:spcAft>
            </a:pPr>
            <a:r>
              <a:rPr sz="1800">
                <a:solidFill>
                  <a:srgbClr val="222222"/>
                </a:solidFill>
                <a:latin typeface="微软雅黑"/>
              </a:rPr>
              <a:t>• </a:t>
            </a:r>
          </a:p>
          <a:p>
            <a:pPr>
              <a:lnSpc>
                <a:spcPct val="125000"/>
              </a:lnSpc>
              <a:spcAft>
                <a:spcPts val="700"/>
              </a:spcAft>
            </a:pPr>
            <a:r>
              <a:rPr sz="1800">
                <a:solidFill>
                  <a:srgbClr val="222222"/>
                </a:solidFill>
                <a:latin typeface="微软雅黑"/>
              </a:rPr>
              <a:t>• 配图建议：论文总体技术架构图（fig1_overall_research_architecture）</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已完成工作一：公开数据校准的数据管线</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国家能源局 2024 全社会用电量 98521 亿 kWh（+6.8%）</a:t>
            </a:r>
          </a:p>
          <a:p>
            <a:pPr>
              <a:lnSpc>
                <a:spcPct val="125000"/>
              </a:lnSpc>
              <a:spcAft>
                <a:spcPts val="700"/>
              </a:spcAft>
            </a:pPr>
            <a:r>
              <a:rPr sz="1800">
                <a:solidFill>
                  <a:srgbClr val="222222"/>
                </a:solidFill>
                <a:latin typeface="微软雅黑"/>
              </a:rPr>
              <a:t>• 可再生能源累计装机 18.89 亿 kW（风电 5.21 亿、光伏 8.87 亿）</a:t>
            </a:r>
          </a:p>
          <a:p>
            <a:pPr>
              <a:lnSpc>
                <a:spcPct val="125000"/>
              </a:lnSpc>
              <a:spcAft>
                <a:spcPts val="700"/>
              </a:spcAft>
            </a:pPr>
            <a:r>
              <a:rPr sz="1800">
                <a:solidFill>
                  <a:srgbClr val="222222"/>
                </a:solidFill>
                <a:latin typeface="微软雅黑"/>
              </a:rPr>
              <a:t>• 广东现货市场与独立储能公开披露（价格区间、充放电均价、价差）</a:t>
            </a:r>
          </a:p>
          <a:p>
            <a:pPr>
              <a:lnSpc>
                <a:spcPct val="125000"/>
              </a:lnSpc>
              <a:spcAft>
                <a:spcPts val="700"/>
              </a:spcAft>
            </a:pPr>
            <a:r>
              <a:rPr sz="1800">
                <a:solidFill>
                  <a:srgbClr val="222222"/>
                </a:solidFill>
                <a:latin typeface="微软雅黑"/>
              </a:rPr>
              <a:t>• 据此校准生成广东 VPP 15 分钟样例场景</a:t>
            </a:r>
          </a:p>
          <a:p>
            <a:pPr>
              <a:lnSpc>
                <a:spcPct val="125000"/>
              </a:lnSpc>
              <a:spcAft>
                <a:spcPts val="700"/>
              </a:spcAft>
            </a:pPr>
            <a:r>
              <a:rPr sz="1800">
                <a:solidFill>
                  <a:srgbClr val="222222"/>
                </a:solidFill>
                <a:latin typeface="微软雅黑"/>
              </a:rPr>
              <a:t>• 数据边界明确界定：公开数据校准背景与参数；RL 轨迹为可复现仿真序列</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已完成工作二：VPP 强化学习环境</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状态：负荷、光伏、电价、温度、SOC、时间编码 + 文本事件语义</a:t>
            </a:r>
          </a:p>
          <a:p>
            <a:pPr>
              <a:lnSpc>
                <a:spcPct val="125000"/>
              </a:lnSpc>
              <a:spcAft>
                <a:spcPts val="700"/>
              </a:spcAft>
            </a:pPr>
            <a:r>
              <a:rPr sz="1800">
                <a:solidFill>
                  <a:srgbClr val="222222"/>
                </a:solidFill>
                <a:latin typeface="微软雅黑"/>
              </a:rPr>
              <a:t>• 动作：储能连续充放电功率（正放电/负充电）</a:t>
            </a:r>
          </a:p>
          <a:p>
            <a:pPr>
              <a:lnSpc>
                <a:spcPct val="125000"/>
              </a:lnSpc>
              <a:spcAft>
                <a:spcPts val="700"/>
              </a:spcAft>
            </a:pPr>
            <a:r>
              <a:rPr sz="1800">
                <a:solidFill>
                  <a:srgbClr val="222222"/>
                </a:solidFill>
                <a:latin typeface="微软雅黑"/>
              </a:rPr>
              <a:t>• 约束：功率边界、SOC 上下限、充放电效率</a:t>
            </a:r>
          </a:p>
          <a:p>
            <a:pPr>
              <a:lnSpc>
                <a:spcPct val="125000"/>
              </a:lnSpc>
              <a:spcAft>
                <a:spcPts val="700"/>
              </a:spcAft>
            </a:pPr>
            <a:r>
              <a:rPr sz="1800">
                <a:solidFill>
                  <a:srgbClr val="222222"/>
                </a:solidFill>
                <a:latin typeface="微软雅黑"/>
              </a:rPr>
              <a:t>• 奖励：购售电收益 − 退化成本 − 弃光惩罚 − 不可行惩罚</a:t>
            </a:r>
          </a:p>
          <a:p>
            <a:pPr>
              <a:lnSpc>
                <a:spcPct val="125000"/>
              </a:lnSpc>
              <a:spcAft>
                <a:spcPts val="700"/>
              </a:spcAft>
            </a:pPr>
            <a:r>
              <a:rPr sz="1800">
                <a:solidFill>
                  <a:srgbClr val="222222"/>
                </a:solidFill>
                <a:latin typeface="微软雅黑"/>
              </a:rPr>
              <a:t>• 统一平台：规则策略、SAC、语言增强 SAC 公平对比</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已完成工作三：LE-DRL-SAC 框架</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DeepSeek 作语义编码器：每事件模板查询一次并缓存，输出五维语义向量</a:t>
            </a:r>
          </a:p>
          <a:p>
            <a:pPr>
              <a:lnSpc>
                <a:spcPct val="125000"/>
              </a:lnSpc>
              <a:spcAft>
                <a:spcPts val="700"/>
              </a:spcAft>
            </a:pPr>
            <a:r>
              <a:rPr sz="1600">
                <a:solidFill>
                  <a:srgbClr val="555555"/>
                </a:solidFill>
                <a:latin typeface="微软雅黑"/>
              </a:rPr>
              <a:t>· 总体风险 / 价格尖峰 / 负荷压力 / 消纳压力 / 储能偏置</a:t>
            </a:r>
          </a:p>
          <a:p>
            <a:pPr>
              <a:lnSpc>
                <a:spcPct val="125000"/>
              </a:lnSpc>
              <a:spcAft>
                <a:spcPts val="700"/>
              </a:spcAft>
            </a:pPr>
            <a:r>
              <a:rPr sz="1800">
                <a:solidFill>
                  <a:srgbClr val="222222"/>
                </a:solidFill>
                <a:latin typeface="微软雅黑"/>
              </a:rPr>
              <a:t>• LLM 不参与逐步控制，无在线延迟，不输出调度动作</a:t>
            </a:r>
          </a:p>
          <a:p>
            <a:pPr>
              <a:lnSpc>
                <a:spcPct val="125000"/>
              </a:lnSpc>
              <a:spcAft>
                <a:spcPts val="700"/>
              </a:spcAft>
            </a:pPr>
            <a:r>
              <a:rPr sz="1800">
                <a:solidFill>
                  <a:srgbClr val="222222"/>
                </a:solidFill>
                <a:latin typeface="微软雅黑"/>
              </a:rPr>
              <a:t>• 增强状态 s_aug=[s_num, s_sem] 输入 SAC</a:t>
            </a:r>
          </a:p>
          <a:p>
            <a:pPr>
              <a:lnSpc>
                <a:spcPct val="125000"/>
              </a:lnSpc>
              <a:spcAft>
                <a:spcPts val="700"/>
              </a:spcAft>
            </a:pPr>
            <a:r>
              <a:rPr sz="1800">
                <a:solidFill>
                  <a:srgbClr val="222222"/>
                </a:solidFill>
                <a:latin typeface="微软雅黑"/>
              </a:rPr>
              <a:t>• Actor 语义一致性正则：训练阶段促使 Actor 学语义对应行为</a:t>
            </a:r>
          </a:p>
          <a:p>
            <a:pPr>
              <a:lnSpc>
                <a:spcPct val="125000"/>
              </a:lnSpc>
              <a:spcAft>
                <a:spcPts val="700"/>
              </a:spcAft>
            </a:pPr>
            <a:r>
              <a:rPr sz="1800">
                <a:solidFill>
                  <a:srgbClr val="222222"/>
                </a:solidFill>
                <a:latin typeface="微软雅黑"/>
              </a:rPr>
              <a:t>• 本地关键词编码器作 API 不可用时的可复现回退</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已完成工作四：语义安全层与事件覆盖权重</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测试期混合：a_final=(1−w)·a_SAC + w·a_sem，再经可行性裁剪</a:t>
            </a:r>
          </a:p>
          <a:p>
            <a:pPr>
              <a:lnSpc>
                <a:spcPct val="125000"/>
              </a:lnSpc>
              <a:spcAft>
                <a:spcPts val="700"/>
              </a:spcAft>
            </a:pPr>
            <a:r>
              <a:rPr sz="1800">
                <a:solidFill>
                  <a:srgbClr val="222222"/>
                </a:solidFill>
                <a:latin typeface="微软雅黑"/>
              </a:rPr>
              <a:t>• 核心原则：权重 w 视事件覆盖而定，非通用常数</a:t>
            </a:r>
          </a:p>
          <a:p>
            <a:pPr>
              <a:lnSpc>
                <a:spcPct val="125000"/>
              </a:lnSpc>
              <a:spcAft>
                <a:spcPts val="700"/>
              </a:spcAft>
            </a:pPr>
            <a:r>
              <a:rPr sz="1600">
                <a:solidFill>
                  <a:srgbClr val="555555"/>
                </a:solidFill>
                <a:latin typeface="微软雅黑"/>
              </a:rPr>
              <a:t>· 已知事件：先验接近场景最优 → 高 w（主实验 w=0.9）</a:t>
            </a:r>
          </a:p>
          <a:p>
            <a:pPr>
              <a:lnSpc>
                <a:spcPct val="125000"/>
              </a:lnSpc>
              <a:spcAft>
                <a:spcPts val="700"/>
              </a:spcAft>
            </a:pPr>
            <a:r>
              <a:rPr sz="1600">
                <a:solidFill>
                  <a:srgbClr val="555555"/>
                </a:solidFill>
                <a:latin typeface="微软雅黑"/>
              </a:rPr>
              <a:t>· 未覆盖新事件：先验无对应分支 → 低 w，Actor 接管</a:t>
            </a:r>
          </a:p>
          <a:p>
            <a:pPr>
              <a:lnSpc>
                <a:spcPct val="125000"/>
              </a:lnSpc>
              <a:spcAft>
                <a:spcPts val="700"/>
              </a:spcAft>
            </a:pPr>
            <a:r>
              <a:rPr sz="1800">
                <a:solidFill>
                  <a:srgbClr val="222222"/>
                </a:solidFill>
                <a:latin typeface="微软雅黑"/>
              </a:rPr>
              <a:t>• 数值安全层消融：纯数值先验加同公式 → 隔离文本语义与机制贡献</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阶段性结果一：跨场景基线对比</a:t>
            </a:r>
          </a:p>
        </p:txBody>
      </p:sp>
      <p:graphicFrame>
        <p:nvGraphicFramePr>
          <p:cNvPr id="5" name="Table 4"/>
          <p:cNvGraphicFramePr>
            <a:graphicFrameLocks noGrp="1"/>
          </p:cNvGraphicFramePr>
          <p:nvPr/>
        </p:nvGraphicFramePr>
        <p:xfrm>
          <a:off x="731520" y="1097280"/>
          <a:ext cx="10424160" cy="3072384"/>
        </p:xfrm>
        <a:graphic>
          <a:graphicData uri="http://schemas.openxmlformats.org/drawingml/2006/table">
            <a:tbl>
              <a:tblPr firstRow="1" bandRow="1">
                <a:tableStyleId>{5C22544A-7EE6-4342-B048-85BDC9FD1C3A}</a:tableStyleId>
              </a:tblPr>
              <a:tblGrid>
                <a:gridCol w="2084832"/>
                <a:gridCol w="2084832"/>
                <a:gridCol w="2084832"/>
                <a:gridCol w="2084832"/>
                <a:gridCol w="2084832"/>
              </a:tblGrid>
              <a:tr h="384048">
                <a:tc>
                  <a:txBody>
                    <a:bodyPr wrap="square"/>
                    <a:lstStyle/>
                    <a:p>
                      <a:pPr algn="ctr"/>
                      <a:r>
                        <a:rPr sz="1400" b="1">
                          <a:solidFill>
                            <a:srgbClr val="FFFFFF"/>
                          </a:solidFill>
                          <a:latin typeface="微软雅黑"/>
                        </a:rPr>
                        <a:t>模型</a:t>
                      </a:r>
                    </a:p>
                  </a:txBody>
                  <a:tcPr>
                    <a:solidFill>
                      <a:srgbClr val="1F3A5F"/>
                    </a:solidFill>
                  </a:tcPr>
                </a:tc>
                <a:tc>
                  <a:txBody>
                    <a:bodyPr wrap="square"/>
                    <a:lstStyle/>
                    <a:p>
                      <a:pPr algn="ctr"/>
                      <a:r>
                        <a:rPr sz="1400" b="1">
                          <a:solidFill>
                            <a:srgbClr val="FFFFFF"/>
                          </a:solidFill>
                          <a:latin typeface="微软雅黑"/>
                        </a:rPr>
                        <a:t>总收益(元)</a:t>
                      </a:r>
                    </a:p>
                  </a:txBody>
                  <a:tcPr>
                    <a:solidFill>
                      <a:srgbClr val="1F3A5F"/>
                    </a:solidFill>
                  </a:tcPr>
                </a:tc>
                <a:tc>
                  <a:txBody>
                    <a:bodyPr wrap="square"/>
                    <a:lstStyle/>
                    <a:p>
                      <a:pPr algn="ctr"/>
                      <a:r>
                        <a:rPr sz="1400" b="1">
                          <a:solidFill>
                            <a:srgbClr val="FFFFFF"/>
                          </a:solidFill>
                          <a:latin typeface="微软雅黑"/>
                        </a:rPr>
                        <a:t>CVaR 5%</a:t>
                      </a:r>
                    </a:p>
                  </a:txBody>
                  <a:tcPr>
                    <a:solidFill>
                      <a:srgbClr val="1F3A5F"/>
                    </a:solidFill>
                  </a:tcPr>
                </a:tc>
                <a:tc>
                  <a:txBody>
                    <a:bodyPr wrap="square"/>
                    <a:lstStyle/>
                    <a:p>
                      <a:pPr algn="ctr"/>
                      <a:r>
                        <a:rPr sz="1400" b="1">
                          <a:solidFill>
                            <a:srgbClr val="FFFFFF"/>
                          </a:solidFill>
                          <a:latin typeface="微软雅黑"/>
                        </a:rPr>
                        <a:t>吞吐(MWh)</a:t>
                      </a:r>
                    </a:p>
                  </a:txBody>
                  <a:tcPr>
                    <a:solidFill>
                      <a:srgbClr val="1F3A5F"/>
                    </a:solidFill>
                  </a:tcPr>
                </a:tc>
                <a:tc>
                  <a:txBody>
                    <a:bodyPr wrap="square"/>
                    <a:lstStyle/>
                    <a:p>
                      <a:pPr algn="ctr"/>
                      <a:r>
                        <a:rPr sz="1400" b="1">
                          <a:solidFill>
                            <a:srgbClr val="FFFFFF"/>
                          </a:solidFill>
                          <a:latin typeface="微软雅黑"/>
                        </a:rPr>
                        <a:t>高价放电率</a:t>
                      </a:r>
                    </a:p>
                  </a:txBody>
                  <a:tcPr>
                    <a:solidFill>
                      <a:srgbClr val="1F3A5F"/>
                    </a:solidFill>
                  </a:tcPr>
                </a:tc>
              </a:tr>
              <a:tr h="384048">
                <a:tc>
                  <a:txBody>
                    <a:bodyPr wrap="square"/>
                    <a:lstStyle/>
                    <a:p>
                      <a:pPr algn="l"/>
                      <a:r>
                        <a:rPr sz="1300">
                          <a:solidFill>
                            <a:srgbClr val="222222"/>
                          </a:solidFill>
                          <a:latin typeface="微软雅黑"/>
                        </a:rPr>
                        <a:t>LE-DRL-SAC+安全层</a:t>
                      </a:r>
                    </a:p>
                  </a:txBody>
                  <a:tcPr>
                    <a:solidFill>
                      <a:srgbClr val="F2F5F9"/>
                    </a:solidFill>
                  </a:tcPr>
                </a:tc>
                <a:tc>
                  <a:txBody>
                    <a:bodyPr wrap="square"/>
                    <a:lstStyle/>
                    <a:p>
                      <a:pPr algn="ctr"/>
                      <a:r>
                        <a:rPr sz="1300">
                          <a:solidFill>
                            <a:srgbClr val="222222"/>
                          </a:solidFill>
                          <a:latin typeface="微软雅黑"/>
                        </a:rPr>
                        <a:t>−208,468.9</a:t>
                      </a:r>
                    </a:p>
                  </a:txBody>
                  <a:tcPr>
                    <a:solidFill>
                      <a:srgbClr val="F2F5F9"/>
                    </a:solidFill>
                  </a:tcPr>
                </a:tc>
                <a:tc>
                  <a:txBody>
                    <a:bodyPr wrap="square"/>
                    <a:lstStyle/>
                    <a:p>
                      <a:pPr algn="ctr"/>
                      <a:r>
                        <a:rPr sz="1300">
                          <a:solidFill>
                            <a:srgbClr val="222222"/>
                          </a:solidFill>
                          <a:latin typeface="微软雅黑"/>
                        </a:rPr>
                        <a:t>−696.7</a:t>
                      </a:r>
                    </a:p>
                  </a:txBody>
                  <a:tcPr>
                    <a:solidFill>
                      <a:srgbClr val="F2F5F9"/>
                    </a:solidFill>
                  </a:tcPr>
                </a:tc>
                <a:tc>
                  <a:txBody>
                    <a:bodyPr wrap="square"/>
                    <a:lstStyle/>
                    <a:p>
                      <a:pPr algn="ctr"/>
                      <a:r>
                        <a:rPr sz="1300">
                          <a:solidFill>
                            <a:srgbClr val="222222"/>
                          </a:solidFill>
                          <a:latin typeface="微软雅黑"/>
                        </a:rPr>
                        <a:t>28.37</a:t>
                      </a:r>
                    </a:p>
                  </a:txBody>
                  <a:tcPr>
                    <a:solidFill>
                      <a:srgbClr val="F2F5F9"/>
                    </a:solidFill>
                  </a:tcPr>
                </a:tc>
                <a:tc>
                  <a:txBody>
                    <a:bodyPr wrap="square"/>
                    <a:lstStyle/>
                    <a:p>
                      <a:pPr algn="ctr"/>
                      <a:r>
                        <a:rPr sz="1300">
                          <a:solidFill>
                            <a:srgbClr val="222222"/>
                          </a:solidFill>
                          <a:latin typeface="微软雅黑"/>
                        </a:rPr>
                        <a:t>0.231</a:t>
                      </a:r>
                    </a:p>
                  </a:txBody>
                  <a:tcPr>
                    <a:solidFill>
                      <a:srgbClr val="F2F5F9"/>
                    </a:solidFill>
                  </a:tcPr>
                </a:tc>
              </a:tr>
              <a:tr h="384048">
                <a:tc>
                  <a:txBody>
                    <a:bodyPr wrap="square"/>
                    <a:lstStyle/>
                    <a:p>
                      <a:pPr algn="l"/>
                      <a:r>
                        <a:rPr sz="1300">
                          <a:solidFill>
                            <a:srgbClr val="222222"/>
                          </a:solidFill>
                          <a:latin typeface="微软雅黑"/>
                        </a:rPr>
                        <a:t>Rule-Based</a:t>
                      </a:r>
                    </a:p>
                  </a:txBody>
                  <a:tcPr>
                    <a:solidFill>
                      <a:srgbClr val="FFFFFF"/>
                    </a:solidFill>
                  </a:tcPr>
                </a:tc>
                <a:tc>
                  <a:txBody>
                    <a:bodyPr wrap="square"/>
                    <a:lstStyle/>
                    <a:p>
                      <a:pPr algn="ctr"/>
                      <a:r>
                        <a:rPr sz="1300">
                          <a:solidFill>
                            <a:srgbClr val="222222"/>
                          </a:solidFill>
                          <a:latin typeface="微软雅黑"/>
                        </a:rPr>
                        <a:t>−208,969.9</a:t>
                      </a:r>
                    </a:p>
                  </a:txBody>
                  <a:tcPr>
                    <a:solidFill>
                      <a:srgbClr val="FFFFFF"/>
                    </a:solidFill>
                  </a:tcPr>
                </a:tc>
                <a:tc>
                  <a:txBody>
                    <a:bodyPr wrap="square"/>
                    <a:lstStyle/>
                    <a:p>
                      <a:pPr algn="ctr"/>
                      <a:r>
                        <a:rPr sz="1300">
                          <a:solidFill>
                            <a:srgbClr val="222222"/>
                          </a:solidFill>
                          <a:latin typeface="微软雅黑"/>
                        </a:rPr>
                        <a:t>−705.0</a:t>
                      </a:r>
                    </a:p>
                  </a:txBody>
                  <a:tcPr>
                    <a:solidFill>
                      <a:srgbClr val="FFFFFF"/>
                    </a:solidFill>
                  </a:tcPr>
                </a:tc>
                <a:tc>
                  <a:txBody>
                    <a:bodyPr wrap="square"/>
                    <a:lstStyle/>
                    <a:p>
                      <a:pPr algn="ctr"/>
                      <a:r>
                        <a:rPr sz="1300">
                          <a:solidFill>
                            <a:srgbClr val="222222"/>
                          </a:solidFill>
                          <a:latin typeface="微软雅黑"/>
                        </a:rPr>
                        <a:t>19.94</a:t>
                      </a:r>
                    </a:p>
                  </a:txBody>
                  <a:tcPr>
                    <a:solidFill>
                      <a:srgbClr val="FFFFFF"/>
                    </a:solidFill>
                  </a:tcPr>
                </a:tc>
                <a:tc>
                  <a:txBody>
                    <a:bodyPr wrap="square"/>
                    <a:lstStyle/>
                    <a:p>
                      <a:pPr algn="ctr"/>
                      <a:r>
                        <a:rPr sz="1300">
                          <a:solidFill>
                            <a:srgbClr val="222222"/>
                          </a:solidFill>
                          <a:latin typeface="微软雅黑"/>
                        </a:rPr>
                        <a:t>0.176</a:t>
                      </a:r>
                    </a:p>
                  </a:txBody>
                  <a:tcPr>
                    <a:solidFill>
                      <a:srgbClr val="FFFFFF"/>
                    </a:solidFill>
                  </a:tcPr>
                </a:tc>
              </a:tr>
              <a:tr h="384048">
                <a:tc>
                  <a:txBody>
                    <a:bodyPr wrap="square"/>
                    <a:lstStyle/>
                    <a:p>
                      <a:pPr algn="l"/>
                      <a:r>
                        <a:rPr sz="1300">
                          <a:solidFill>
                            <a:srgbClr val="222222"/>
                          </a:solidFill>
                          <a:latin typeface="微软雅黑"/>
                        </a:rPr>
                        <a:t>SAC-Numeric+数值安全层</a:t>
                      </a:r>
                    </a:p>
                  </a:txBody>
                  <a:tcPr>
                    <a:solidFill>
                      <a:srgbClr val="F2F5F9"/>
                    </a:solidFill>
                  </a:tcPr>
                </a:tc>
                <a:tc>
                  <a:txBody>
                    <a:bodyPr wrap="square"/>
                    <a:lstStyle/>
                    <a:p>
                      <a:pPr algn="ctr"/>
                      <a:r>
                        <a:rPr sz="1300">
                          <a:solidFill>
                            <a:srgbClr val="222222"/>
                          </a:solidFill>
                          <a:latin typeface="微软雅黑"/>
                        </a:rPr>
                        <a:t>−209,125.3</a:t>
                      </a:r>
                    </a:p>
                  </a:txBody>
                  <a:tcPr>
                    <a:solidFill>
                      <a:srgbClr val="F2F5F9"/>
                    </a:solidFill>
                  </a:tcPr>
                </a:tc>
                <a:tc>
                  <a:txBody>
                    <a:bodyPr wrap="square"/>
                    <a:lstStyle/>
                    <a:p>
                      <a:pPr algn="ctr"/>
                      <a:r>
                        <a:rPr sz="1300">
                          <a:solidFill>
                            <a:srgbClr val="222222"/>
                          </a:solidFill>
                          <a:latin typeface="微软雅黑"/>
                        </a:rPr>
                        <a:t>−704.0</a:t>
                      </a:r>
                    </a:p>
                  </a:txBody>
                  <a:tcPr>
                    <a:solidFill>
                      <a:srgbClr val="F2F5F9"/>
                    </a:solidFill>
                  </a:tcPr>
                </a:tc>
                <a:tc>
                  <a:txBody>
                    <a:bodyPr wrap="square"/>
                    <a:lstStyle/>
                    <a:p>
                      <a:pPr algn="ctr"/>
                      <a:r>
                        <a:rPr sz="1300">
                          <a:solidFill>
                            <a:srgbClr val="222222"/>
                          </a:solidFill>
                          <a:latin typeface="微软雅黑"/>
                        </a:rPr>
                        <a:t>16.92</a:t>
                      </a:r>
                    </a:p>
                  </a:txBody>
                  <a:tcPr>
                    <a:solidFill>
                      <a:srgbClr val="F2F5F9"/>
                    </a:solidFill>
                  </a:tcPr>
                </a:tc>
                <a:tc>
                  <a:txBody>
                    <a:bodyPr wrap="square"/>
                    <a:lstStyle/>
                    <a:p>
                      <a:pPr algn="ctr"/>
                      <a:r>
                        <a:rPr sz="1300">
                          <a:solidFill>
                            <a:srgbClr val="222222"/>
                          </a:solidFill>
                          <a:latin typeface="微软雅黑"/>
                        </a:rPr>
                        <a:t>0.193</a:t>
                      </a:r>
                    </a:p>
                  </a:txBody>
                  <a:tcPr>
                    <a:solidFill>
                      <a:srgbClr val="F2F5F9"/>
                    </a:solidFill>
                  </a:tcPr>
                </a:tc>
              </a:tr>
              <a:tr h="384048">
                <a:tc>
                  <a:txBody>
                    <a:bodyPr wrap="square"/>
                    <a:lstStyle/>
                    <a:p>
                      <a:pPr algn="l"/>
                      <a:r>
                        <a:rPr sz="1300">
                          <a:solidFill>
                            <a:srgbClr val="222222"/>
                          </a:solidFill>
                          <a:latin typeface="微软雅黑"/>
                        </a:rPr>
                        <a:t>增强滚动时域</a:t>
                      </a:r>
                    </a:p>
                  </a:txBody>
                  <a:tcPr>
                    <a:solidFill>
                      <a:srgbClr val="FFFFFF"/>
                    </a:solidFill>
                  </a:tcPr>
                </a:tc>
                <a:tc>
                  <a:txBody>
                    <a:bodyPr wrap="square"/>
                    <a:lstStyle/>
                    <a:p>
                      <a:pPr algn="ctr"/>
                      <a:r>
                        <a:rPr sz="1300">
                          <a:solidFill>
                            <a:srgbClr val="222222"/>
                          </a:solidFill>
                          <a:latin typeface="微软雅黑"/>
                        </a:rPr>
                        <a:t>−209,988.3</a:t>
                      </a:r>
                    </a:p>
                  </a:txBody>
                  <a:tcPr>
                    <a:solidFill>
                      <a:srgbClr val="FFFFFF"/>
                    </a:solidFill>
                  </a:tcPr>
                </a:tc>
                <a:tc>
                  <a:txBody>
                    <a:bodyPr wrap="square"/>
                    <a:lstStyle/>
                    <a:p>
                      <a:pPr algn="ctr"/>
                      <a:r>
                        <a:rPr sz="1300">
                          <a:solidFill>
                            <a:srgbClr val="222222"/>
                          </a:solidFill>
                          <a:latin typeface="微软雅黑"/>
                        </a:rPr>
                        <a:t>−713.8</a:t>
                      </a:r>
                    </a:p>
                  </a:txBody>
                  <a:tcPr>
                    <a:solidFill>
                      <a:srgbClr val="FFFFFF"/>
                    </a:solidFill>
                  </a:tcPr>
                </a:tc>
                <a:tc>
                  <a:txBody>
                    <a:bodyPr wrap="square"/>
                    <a:lstStyle/>
                    <a:p>
                      <a:pPr algn="ctr"/>
                      <a:r>
                        <a:rPr sz="1300">
                          <a:solidFill>
                            <a:srgbClr val="222222"/>
                          </a:solidFill>
                          <a:latin typeface="微软雅黑"/>
                        </a:rPr>
                        <a:t>14.80</a:t>
                      </a:r>
                    </a:p>
                  </a:txBody>
                  <a:tcPr>
                    <a:solidFill>
                      <a:srgbClr val="FFFFFF"/>
                    </a:solidFill>
                  </a:tcPr>
                </a:tc>
                <a:tc>
                  <a:txBody>
                    <a:bodyPr wrap="square"/>
                    <a:lstStyle/>
                    <a:p>
                      <a:pPr algn="ctr"/>
                      <a:r>
                        <a:rPr sz="1300">
                          <a:solidFill>
                            <a:srgbClr val="222222"/>
                          </a:solidFill>
                          <a:latin typeface="微软雅黑"/>
                        </a:rPr>
                        <a:t>0.095</a:t>
                      </a:r>
                    </a:p>
                  </a:txBody>
                  <a:tcPr>
                    <a:solidFill>
                      <a:srgbClr val="FFFFFF"/>
                    </a:solidFill>
                  </a:tcPr>
                </a:tc>
              </a:tr>
              <a:tr h="384048">
                <a:tc>
                  <a:txBody>
                    <a:bodyPr wrap="square"/>
                    <a:lstStyle/>
                    <a:p>
                      <a:pPr algn="l"/>
                      <a:r>
                        <a:rPr sz="1300">
                          <a:solidFill>
                            <a:srgbClr val="222222"/>
                          </a:solidFill>
                          <a:latin typeface="微软雅黑"/>
                        </a:rPr>
                        <a:t>Linear-MPC</a:t>
                      </a:r>
                    </a:p>
                  </a:txBody>
                  <a:tcPr>
                    <a:solidFill>
                      <a:srgbClr val="F2F5F9"/>
                    </a:solidFill>
                  </a:tcPr>
                </a:tc>
                <a:tc>
                  <a:txBody>
                    <a:bodyPr wrap="square"/>
                    <a:lstStyle/>
                    <a:p>
                      <a:pPr algn="ctr"/>
                      <a:r>
                        <a:rPr sz="1300">
                          <a:solidFill>
                            <a:srgbClr val="222222"/>
                          </a:solidFill>
                          <a:latin typeface="微软雅黑"/>
                        </a:rPr>
                        <a:t>−210,656.0</a:t>
                      </a:r>
                    </a:p>
                  </a:txBody>
                  <a:tcPr>
                    <a:solidFill>
                      <a:srgbClr val="F2F5F9"/>
                    </a:solidFill>
                  </a:tcPr>
                </a:tc>
                <a:tc>
                  <a:txBody>
                    <a:bodyPr wrap="square"/>
                    <a:lstStyle/>
                    <a:p>
                      <a:pPr algn="ctr"/>
                      <a:r>
                        <a:rPr sz="1300">
                          <a:solidFill>
                            <a:srgbClr val="222222"/>
                          </a:solidFill>
                          <a:latin typeface="微软雅黑"/>
                        </a:rPr>
                        <a:t>−714.6</a:t>
                      </a:r>
                    </a:p>
                  </a:txBody>
                  <a:tcPr>
                    <a:solidFill>
                      <a:srgbClr val="F2F5F9"/>
                    </a:solidFill>
                  </a:tcPr>
                </a:tc>
                <a:tc>
                  <a:txBody>
                    <a:bodyPr wrap="square"/>
                    <a:lstStyle/>
                    <a:p>
                      <a:pPr algn="ctr"/>
                      <a:r>
                        <a:rPr sz="1300">
                          <a:solidFill>
                            <a:srgbClr val="222222"/>
                          </a:solidFill>
                          <a:latin typeface="微软雅黑"/>
                        </a:rPr>
                        <a:t>10.81</a:t>
                      </a:r>
                    </a:p>
                  </a:txBody>
                  <a:tcPr>
                    <a:solidFill>
                      <a:srgbClr val="F2F5F9"/>
                    </a:solidFill>
                  </a:tcPr>
                </a:tc>
                <a:tc>
                  <a:txBody>
                    <a:bodyPr wrap="square"/>
                    <a:lstStyle/>
                    <a:p>
                      <a:pPr algn="ctr"/>
                      <a:r>
                        <a:rPr sz="1300">
                          <a:solidFill>
                            <a:srgbClr val="222222"/>
                          </a:solidFill>
                          <a:latin typeface="微软雅黑"/>
                        </a:rPr>
                        <a:t>0.073</a:t>
                      </a:r>
                    </a:p>
                  </a:txBody>
                  <a:tcPr>
                    <a:solidFill>
                      <a:srgbClr val="F2F5F9"/>
                    </a:solidFill>
                  </a:tcPr>
                </a:tc>
              </a:tr>
              <a:tr h="384048">
                <a:tc>
                  <a:txBody>
                    <a:bodyPr wrap="square"/>
                    <a:lstStyle/>
                    <a:p>
                      <a:pPr algn="l"/>
                      <a:r>
                        <a:rPr sz="1300">
                          <a:solidFill>
                            <a:srgbClr val="222222"/>
                          </a:solidFill>
                          <a:latin typeface="微软雅黑"/>
                        </a:rPr>
                        <a:t>SAC-Numeric</a:t>
                      </a:r>
                    </a:p>
                  </a:txBody>
                  <a:tcPr>
                    <a:solidFill>
                      <a:srgbClr val="FFFFFF"/>
                    </a:solidFill>
                  </a:tcPr>
                </a:tc>
                <a:tc>
                  <a:txBody>
                    <a:bodyPr wrap="square"/>
                    <a:lstStyle/>
                    <a:p>
                      <a:pPr algn="ctr"/>
                      <a:r>
                        <a:rPr sz="1300">
                          <a:solidFill>
                            <a:srgbClr val="222222"/>
                          </a:solidFill>
                          <a:latin typeface="微软雅黑"/>
                        </a:rPr>
                        <a:t>−211,023.2</a:t>
                      </a:r>
                    </a:p>
                  </a:txBody>
                  <a:tcPr>
                    <a:solidFill>
                      <a:srgbClr val="FFFFFF"/>
                    </a:solidFill>
                  </a:tcPr>
                </a:tc>
                <a:tc>
                  <a:txBody>
                    <a:bodyPr wrap="square"/>
                    <a:lstStyle/>
                    <a:p>
                      <a:pPr algn="ctr"/>
                      <a:r>
                        <a:rPr sz="1300">
                          <a:solidFill>
                            <a:srgbClr val="222222"/>
                          </a:solidFill>
                          <a:latin typeface="微软雅黑"/>
                        </a:rPr>
                        <a:t>−721.3</a:t>
                      </a:r>
                    </a:p>
                  </a:txBody>
                  <a:tcPr>
                    <a:solidFill>
                      <a:srgbClr val="FFFFFF"/>
                    </a:solidFill>
                  </a:tcPr>
                </a:tc>
                <a:tc>
                  <a:txBody>
                    <a:bodyPr wrap="square"/>
                    <a:lstStyle/>
                    <a:p>
                      <a:pPr algn="ctr"/>
                      <a:r>
                        <a:rPr sz="1300">
                          <a:solidFill>
                            <a:srgbClr val="222222"/>
                          </a:solidFill>
                          <a:latin typeface="微软雅黑"/>
                        </a:rPr>
                        <a:t>3.04</a:t>
                      </a:r>
                    </a:p>
                  </a:txBody>
                  <a:tcPr>
                    <a:solidFill>
                      <a:srgbClr val="FFFFFF"/>
                    </a:solidFill>
                  </a:tcPr>
                </a:tc>
                <a:tc>
                  <a:txBody>
                    <a:bodyPr wrap="square"/>
                    <a:lstStyle/>
                    <a:p>
                      <a:pPr algn="ctr"/>
                      <a:r>
                        <a:rPr sz="1300">
                          <a:solidFill>
                            <a:srgbClr val="222222"/>
                          </a:solidFill>
                          <a:latin typeface="微软雅黑"/>
                        </a:rPr>
                        <a:t>0.000</a:t>
                      </a:r>
                    </a:p>
                  </a:txBody>
                  <a:tcPr>
                    <a:solidFill>
                      <a:srgbClr val="FFFFFF"/>
                    </a:solidFill>
                  </a:tcPr>
                </a:tc>
              </a:tr>
              <a:tr h="384048">
                <a:tc>
                  <a:txBody>
                    <a:bodyPr wrap="square"/>
                    <a:lstStyle/>
                    <a:p>
                      <a:pPr algn="l"/>
                      <a:r>
                        <a:rPr sz="1300">
                          <a:solidFill>
                            <a:srgbClr val="222222"/>
                          </a:solidFill>
                          <a:latin typeface="微软雅黑"/>
                        </a:rPr>
                        <a:t>LE-DRL w/o Text</a:t>
                      </a:r>
                    </a:p>
                  </a:txBody>
                  <a:tcPr>
                    <a:solidFill>
                      <a:srgbClr val="F2F5F9"/>
                    </a:solidFill>
                  </a:tcPr>
                </a:tc>
                <a:tc>
                  <a:txBody>
                    <a:bodyPr wrap="square"/>
                    <a:lstStyle/>
                    <a:p>
                      <a:pPr algn="ctr"/>
                      <a:r>
                        <a:rPr sz="1300">
                          <a:solidFill>
                            <a:srgbClr val="222222"/>
                          </a:solidFill>
                          <a:latin typeface="微软雅黑"/>
                        </a:rPr>
                        <a:t>−211,023.1</a:t>
                      </a:r>
                    </a:p>
                  </a:txBody>
                  <a:tcPr>
                    <a:solidFill>
                      <a:srgbClr val="F2F5F9"/>
                    </a:solidFill>
                  </a:tcPr>
                </a:tc>
                <a:tc>
                  <a:txBody>
                    <a:bodyPr wrap="square"/>
                    <a:lstStyle/>
                    <a:p>
                      <a:pPr algn="ctr"/>
                      <a:r>
                        <a:rPr sz="1300">
                          <a:solidFill>
                            <a:srgbClr val="222222"/>
                          </a:solidFill>
                          <a:latin typeface="微软雅黑"/>
                        </a:rPr>
                        <a:t>−721.3</a:t>
                      </a:r>
                    </a:p>
                  </a:txBody>
                  <a:tcPr>
                    <a:solidFill>
                      <a:srgbClr val="F2F5F9"/>
                    </a:solidFill>
                  </a:tcPr>
                </a:tc>
                <a:tc>
                  <a:txBody>
                    <a:bodyPr wrap="square"/>
                    <a:lstStyle/>
                    <a:p>
                      <a:pPr algn="ctr"/>
                      <a:r>
                        <a:rPr sz="1300">
                          <a:solidFill>
                            <a:srgbClr val="222222"/>
                          </a:solidFill>
                          <a:latin typeface="微软雅黑"/>
                        </a:rPr>
                        <a:t>3.04</a:t>
                      </a:r>
                    </a:p>
                  </a:txBody>
                  <a:tcPr>
                    <a:solidFill>
                      <a:srgbClr val="F2F5F9"/>
                    </a:solidFill>
                  </a:tcPr>
                </a:tc>
                <a:tc>
                  <a:txBody>
                    <a:bodyPr wrap="square"/>
                    <a:lstStyle/>
                    <a:p>
                      <a:pPr algn="ctr"/>
                      <a:r>
                        <a:rPr sz="1300">
                          <a:solidFill>
                            <a:srgbClr val="222222"/>
                          </a:solidFill>
                          <a:latin typeface="微软雅黑"/>
                        </a:rPr>
                        <a:t>0.000</a:t>
                      </a:r>
                    </a:p>
                  </a:txBody>
                  <a:tcPr>
                    <a:solidFill>
                      <a:srgbClr val="F2F5F9"/>
                    </a:solidFill>
                  </a:tcPr>
                </a:tc>
              </a:tr>
            </a:tbl>
          </a:graphicData>
        </a:graphic>
      </p:graphicFrame>
      <p:sp>
        <p:nvSpPr>
          <p:cNvPr id="6" name="TextBox 5"/>
          <p:cNvSpPr txBox="1"/>
          <p:nvPr/>
        </p:nvSpPr>
        <p:spPr>
          <a:xfrm>
            <a:off x="548640" y="4306824"/>
            <a:ext cx="10972800" cy="2139696"/>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四场景（S1 常规/S2 高温/S3 价格尖峰/S4 消纳）×3 种子 ×80 episode</a:t>
            </a:r>
          </a:p>
          <a:p>
            <a:pPr>
              <a:lnSpc>
                <a:spcPct val="125000"/>
              </a:lnSpc>
              <a:spcAft>
                <a:spcPts val="700"/>
              </a:spcAft>
            </a:pPr>
            <a:r>
              <a:rPr sz="1800">
                <a:solidFill>
                  <a:srgbClr val="222222"/>
                </a:solidFill>
                <a:latin typeface="微软雅黑"/>
              </a:rPr>
              <a:t>• LE-DRL-SAC+安全层(w=0.9)：−208,468.9 元（最优）</a:t>
            </a:r>
          </a:p>
          <a:p>
            <a:pPr>
              <a:lnSpc>
                <a:spcPct val="125000"/>
              </a:lnSpc>
              <a:spcAft>
                <a:spcPts val="700"/>
              </a:spcAft>
            </a:pPr>
            <a:r>
              <a:rPr sz="1800">
                <a:solidFill>
                  <a:srgbClr val="222222"/>
                </a:solidFill>
                <a:latin typeface="微软雅黑"/>
              </a:rPr>
              <a:t>• 优于 SAC-Numeric(−211,023)、Rule-Based(−208,970)、增强滚动时域(−209,988)、Linear-MPC(−210,656)</a:t>
            </a:r>
          </a:p>
          <a:p>
            <a:pPr>
              <a:lnSpc>
                <a:spcPct val="125000"/>
              </a:lnSpc>
              <a:spcAft>
                <a:spcPts val="700"/>
              </a:spcAft>
            </a:pPr>
            <a:r>
              <a:rPr sz="1800">
                <a:solidFill>
                  <a:srgbClr val="222222"/>
                </a:solidFill>
                <a:latin typeface="微软雅黑"/>
              </a:rPr>
              <a:t>• 配对 bootstrap vs SAC-Numeric：+2,554 元，95% CI [+2,060, +3,044]，Wilcoxon p=0.0005</a:t>
            </a:r>
          </a:p>
          <a:p>
            <a:pPr>
              <a:lnSpc>
                <a:spcPct val="125000"/>
              </a:lnSpc>
              <a:spcAft>
                <a:spcPts val="700"/>
              </a:spcAft>
            </a:pPr>
            <a:r>
              <a:rPr sz="1800">
                <a:solidFill>
                  <a:srgbClr val="222222"/>
                </a:solidFill>
                <a:latin typeface="微软雅黑"/>
              </a:rPr>
              <a:t>• 文本消融：SAC-Numeric ≈ LE-DRL w/o Text → 增益非来自维度增大</a:t>
            </a:r>
          </a:p>
        </p:txBody>
      </p:sp>
      <p:sp>
        <p:nvSpPr>
          <p:cNvPr id="7" name="TextBox 6"/>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阶段性结果二：安全层权重扫描与机制隔离</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w 扫描 0→1：收益单调改善，w=0.9 为保留学习分量的混合配置</a:t>
            </a:r>
          </a:p>
          <a:p>
            <a:pPr>
              <a:lnSpc>
                <a:spcPct val="125000"/>
              </a:lnSpc>
              <a:spcAft>
                <a:spcPts val="700"/>
              </a:spcAft>
            </a:pPr>
            <a:r>
              <a:rPr sz="1800">
                <a:solidFill>
                  <a:srgbClr val="222222"/>
                </a:solidFill>
                <a:latin typeface="微软雅黑"/>
              </a:rPr>
              <a:t>• 数值安全层：SAC-Numeric −211,023 → −209,125（机制本身有价值）</a:t>
            </a:r>
          </a:p>
          <a:p>
            <a:pPr>
              <a:lnSpc>
                <a:spcPct val="125000"/>
              </a:lnSpc>
              <a:spcAft>
                <a:spcPts val="700"/>
              </a:spcAft>
            </a:pPr>
            <a:r>
              <a:rPr sz="1800">
                <a:solidFill>
                  <a:srgbClr val="222222"/>
                </a:solidFill>
                <a:latin typeface="微软雅黑"/>
              </a:rPr>
              <a:t>• 语义安全层：进一步到 −208,469（文本语义额外贡献）</a:t>
            </a:r>
          </a:p>
          <a:p>
            <a:pPr>
              <a:lnSpc>
                <a:spcPct val="125000"/>
              </a:lnSpc>
              <a:spcAft>
                <a:spcPts val="700"/>
              </a:spcAft>
            </a:pPr>
            <a:r>
              <a:rPr sz="1800">
                <a:solidFill>
                  <a:srgbClr val="222222"/>
                </a:solidFill>
                <a:latin typeface="微软雅黑"/>
              </a:rPr>
              <a:t>• 结论：增益 = 安全层机制 + 结构化文本语义，二者可分离</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阶段性结果三：新事件自适应（S5 负电价）</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S5：午间光伏过剩压低现货至负（最低 −210 元/MWh），晚高峰受抑</a:t>
            </a:r>
          </a:p>
          <a:p>
            <a:pPr>
              <a:lnSpc>
                <a:spcPct val="125000"/>
              </a:lnSpc>
              <a:spcAft>
                <a:spcPts val="700"/>
              </a:spcAft>
            </a:pPr>
            <a:r>
              <a:rPr sz="1800">
                <a:solidFill>
                  <a:srgbClr val="222222"/>
                </a:solidFill>
                <a:latin typeface="微软雅黑"/>
              </a:rPr>
              <a:t>• 先验晚高峰放电源分支失配；DeepSeek 正确识别过剩本质（消纳 0.90/偏置 +0.80）</a:t>
            </a:r>
          </a:p>
          <a:p>
            <a:pPr>
              <a:lnSpc>
                <a:spcPct val="125000"/>
              </a:lnSpc>
              <a:spcAft>
                <a:spcPts val="700"/>
              </a:spcAft>
            </a:pPr>
            <a:r>
              <a:rPr sz="1800">
                <a:solidFill>
                  <a:srgbClr val="222222"/>
                </a:solidFill>
                <a:latin typeface="微软雅黑"/>
              </a:rPr>
              <a:t>• 松弛正则化（λ=0, w=0）加 S1–S5 重训练，5 种子：</a:t>
            </a:r>
          </a:p>
          <a:p>
            <a:pPr>
              <a:lnSpc>
                <a:spcPct val="125000"/>
              </a:lnSpc>
              <a:spcAft>
                <a:spcPts val="700"/>
              </a:spcAft>
            </a:pPr>
            <a:r>
              <a:rPr sz="1600">
                <a:solidFill>
                  <a:srgbClr val="555555"/>
                </a:solidFill>
                <a:latin typeface="微软雅黑"/>
              </a:rPr>
              <a:t>· LE-DRL-SAC：−141,068 元 vs SAC-Numeric：−146,550 元</a:t>
            </a:r>
          </a:p>
          <a:p>
            <a:pPr>
              <a:lnSpc>
                <a:spcPct val="125000"/>
              </a:lnSpc>
              <a:spcAft>
                <a:spcPts val="700"/>
              </a:spcAft>
            </a:pPr>
            <a:r>
              <a:rPr sz="1600">
                <a:solidFill>
                  <a:srgbClr val="555555"/>
                </a:solidFill>
                <a:latin typeface="微软雅黑"/>
              </a:rPr>
              <a:t>· 间隙 +5,482 元，95% CI [+4,875, +6,074]，5/5 种子有利</a:t>
            </a:r>
          </a:p>
          <a:p>
            <a:pPr>
              <a:lnSpc>
                <a:spcPct val="125000"/>
              </a:lnSpc>
              <a:spcAft>
                <a:spcPts val="700"/>
              </a:spcAft>
            </a:pPr>
            <a:r>
              <a:rPr sz="1800">
                <a:solidFill>
                  <a:srgbClr val="222222"/>
                </a:solidFill>
                <a:latin typeface="微软雅黑"/>
              </a:rPr>
              <a:t>• 行为：100% 负电价步充电，学会避免晚高峰放电</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阶段性结果四：正则双重角色与参数变体稳健性</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正则扫描：已知事件收益跨权重持平（&lt;0.5%）；S5 随松弛改善 18,515 元</a:t>
            </a:r>
          </a:p>
          <a:p>
            <a:pPr>
              <a:lnSpc>
                <a:spcPct val="125000"/>
              </a:lnSpc>
              <a:spcAft>
                <a:spcPts val="700"/>
              </a:spcAft>
            </a:pPr>
            <a:r>
              <a:rPr sz="1800">
                <a:solidFill>
                  <a:srgbClr val="222222"/>
                </a:solidFill>
                <a:latin typeface="微软雅黑"/>
              </a:rPr>
              <a:t>• → 语义信息两种可分离作用：可学状态特征 vs 约束目标，新事件上冲突</a:t>
            </a:r>
          </a:p>
          <a:p>
            <a:pPr>
              <a:lnSpc>
                <a:spcPct val="125000"/>
              </a:lnSpc>
              <a:spcAft>
                <a:spcPts val="700"/>
              </a:spcAft>
            </a:pPr>
            <a:r>
              <a:rPr sz="1800">
                <a:solidFill>
                  <a:srgbClr val="222222"/>
                </a:solidFill>
                <a:latin typeface="微软雅黑"/>
              </a:rPr>
              <a:t>• 参数变体 V1–V4（负电价深度/季节/光伏装机三维度）：</a:t>
            </a:r>
          </a:p>
          <a:p>
            <a:pPr>
              <a:lnSpc>
                <a:spcPct val="125000"/>
              </a:lnSpc>
              <a:spcAft>
                <a:spcPts val="700"/>
              </a:spcAft>
            </a:pPr>
            <a:r>
              <a:rPr sz="1600">
                <a:solidFill>
                  <a:srgbClr val="555555"/>
                </a:solidFill>
                <a:latin typeface="微软雅黑"/>
              </a:rPr>
              <a:t>· V1/V3/V4 显著正间隙（CI 全正，5/5 种子）</a:t>
            </a:r>
          </a:p>
          <a:p>
            <a:pPr>
              <a:lnSpc>
                <a:spcPct val="125000"/>
              </a:lnSpc>
              <a:spcAft>
                <a:spcPts val="700"/>
              </a:spcAft>
            </a:pPr>
            <a:r>
              <a:rPr sz="1600">
                <a:solidFill>
                  <a:srgbClr val="555555"/>
                </a:solidFill>
                <a:latin typeface="微软雅黑"/>
              </a:rPr>
              <a:t>· V2 趋正</a:t>
            </a:r>
          </a:p>
          <a:p>
            <a:pPr>
              <a:lnSpc>
                <a:spcPct val="125000"/>
              </a:lnSpc>
              <a:spcAft>
                <a:spcPts val="700"/>
              </a:spcAft>
            </a:pPr>
            <a:r>
              <a:rPr sz="1800">
                <a:solidFill>
                  <a:srgbClr val="222222"/>
                </a:solidFill>
                <a:latin typeface="微软雅黑"/>
              </a:rPr>
              <a:t>• 结论：新事件自适应非单一参数设定产物，跨维度稳健</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阶段性结果五：真实电价与真实气象验证</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最接近真实市场的证据</a:t>
            </a:r>
          </a:p>
          <a:p>
            <a:pPr>
              <a:lnSpc>
                <a:spcPct val="125000"/>
              </a:lnSpc>
              <a:spcAft>
                <a:spcPts val="700"/>
              </a:spcAft>
            </a:pPr>
            <a:r>
              <a:rPr sz="1800">
                <a:solidFill>
                  <a:srgbClr val="222222"/>
                </a:solidFill>
                <a:latin typeface="微软雅黑"/>
              </a:rPr>
              <a:t>• 真实德国 DE-LU 日前价格（2026-07-04，27 个负电价区间，最低 −11.8 EUR/MWh）</a:t>
            </a:r>
          </a:p>
          <a:p>
            <a:pPr>
              <a:lnSpc>
                <a:spcPct val="125000"/>
              </a:lnSpc>
              <a:spcAft>
                <a:spcPts val="700"/>
              </a:spcAft>
            </a:pPr>
            <a:r>
              <a:rPr sz="1800">
                <a:solidFill>
                  <a:srgbClr val="222222"/>
                </a:solidFill>
                <a:latin typeface="微软雅黑"/>
              </a:rPr>
              <a:t>• 加 真实 Open-Meteo 气象</a:t>
            </a:r>
          </a:p>
          <a:p>
            <a:pPr>
              <a:lnSpc>
                <a:spcPct val="125000"/>
              </a:lnSpc>
              <a:spcAft>
                <a:spcPts val="700"/>
              </a:spcAft>
            </a:pPr>
            <a:r>
              <a:rPr sz="1800">
                <a:solidFill>
                  <a:srgbClr val="222222"/>
                </a:solidFill>
                <a:latin typeface="微软雅黑"/>
              </a:rPr>
              <a:t>• 5 种子：LE-DRL-SAC −34,956 EUR vs SAC-Numeric −37,156 EUR</a:t>
            </a:r>
          </a:p>
          <a:p>
            <a:pPr>
              <a:lnSpc>
                <a:spcPct val="125000"/>
              </a:lnSpc>
              <a:spcAft>
                <a:spcPts val="700"/>
              </a:spcAft>
            </a:pPr>
            <a:r>
              <a:rPr sz="1800">
                <a:solidFill>
                  <a:srgbClr val="222222"/>
                </a:solidFill>
                <a:latin typeface="微软雅黑"/>
              </a:rPr>
              <a:t>• 间隙 +2,201 EUR，95% CI [+593, +3,627]，4/5 种子有利</a:t>
            </a:r>
          </a:p>
          <a:p>
            <a:pPr>
              <a:lnSpc>
                <a:spcPct val="125000"/>
              </a:lnSpc>
              <a:spcAft>
                <a:spcPts val="700"/>
              </a:spcAft>
            </a:pPr>
            <a:r>
              <a:rPr sz="1800">
                <a:solidFill>
                  <a:srgbClr val="222222"/>
                </a:solidFill>
                <a:latin typeface="微软雅黑"/>
              </a:rPr>
              <a:t>• 意义：新事件自适应可迁移至真实负电价与真实气象，非仿真产物</a:t>
            </a:r>
          </a:p>
          <a:p>
            <a:pPr>
              <a:lnSpc>
                <a:spcPct val="125000"/>
              </a:lnSpc>
              <a:spcAft>
                <a:spcPts val="700"/>
              </a:spcAft>
            </a:pPr>
            <a:r>
              <a:rPr sz="1800">
                <a:solidFill>
                  <a:srgbClr val="222222"/>
                </a:solidFill>
                <a:latin typeface="微软雅黑"/>
              </a:rPr>
              <a:t>• → 为标题事件感知提供最贴近部署的实证锚点</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阶段性结果六：学习型事件覆盖门控</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两个 SAC 专家（带/不带语义正则）加小门控网络 g_ψ(s)→w</a:t>
            </a:r>
          </a:p>
          <a:p>
            <a:pPr>
              <a:lnSpc>
                <a:spcPct val="125000"/>
              </a:lnSpc>
              <a:spcAft>
                <a:spcPts val="700"/>
              </a:spcAft>
            </a:pPr>
            <a:r>
              <a:rPr sz="1800">
                <a:solidFill>
                  <a:srgbClr val="222222"/>
                </a:solidFill>
                <a:latin typeface="微软雅黑"/>
              </a:rPr>
              <a:t>• 以逐批归一化 Q 差异为二分类目标训练，无需覆盖标签</a:t>
            </a:r>
          </a:p>
          <a:p>
            <a:pPr>
              <a:lnSpc>
                <a:spcPct val="125000"/>
              </a:lnSpc>
              <a:spcAft>
                <a:spcPts val="700"/>
              </a:spcAft>
            </a:pPr>
            <a:r>
              <a:rPr sz="1800">
                <a:solidFill>
                  <a:srgbClr val="222222"/>
                </a:solidFill>
                <a:latin typeface="微软雅黑"/>
              </a:rPr>
              <a:t>• 结果：</a:t>
            </a:r>
          </a:p>
          <a:p>
            <a:pPr>
              <a:lnSpc>
                <a:spcPct val="125000"/>
              </a:lnSpc>
              <a:spcAft>
                <a:spcPts val="700"/>
              </a:spcAft>
            </a:pPr>
            <a:r>
              <a:rPr sz="1600">
                <a:solidFill>
                  <a:srgbClr val="555555"/>
                </a:solidFill>
                <a:latin typeface="微软雅黑"/>
              </a:rPr>
              <a:t>· 已知事件 S1–S4：平均 w=0.65（偏向正则化先验专家）</a:t>
            </a:r>
          </a:p>
          <a:p>
            <a:pPr>
              <a:lnSpc>
                <a:spcPct val="125000"/>
              </a:lnSpc>
              <a:spcAft>
                <a:spcPts val="700"/>
              </a:spcAft>
            </a:pPr>
            <a:r>
              <a:rPr sz="1600">
                <a:solidFill>
                  <a:srgbClr val="555555"/>
                </a:solidFill>
                <a:latin typeface="微软雅黑"/>
              </a:rPr>
              <a:t>· S5 加变体 V1–V4：w=0.31–0.48（偏向自由专家）</a:t>
            </a:r>
          </a:p>
          <a:p>
            <a:pPr>
              <a:lnSpc>
                <a:spcPct val="125000"/>
              </a:lnSpc>
              <a:spcAft>
                <a:spcPts val="700"/>
              </a:spcAft>
            </a:pPr>
            <a:r>
              <a:rPr sz="1800">
                <a:solidFill>
                  <a:srgbClr val="222222"/>
                </a:solidFill>
                <a:latin typeface="微软雅黑"/>
              </a:rPr>
              <a:t>• 结论：仅凭 Q 差异信号即可从数据恢复已知高 w/新事件低 w 分割 → 覆盖权重可自动化</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主要创新点</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解耦式语言增强 SAC：LLM 严格作语义编码器（每模板查询缓存），不输出动作，决策确定可审计</a:t>
            </a:r>
          </a:p>
          <a:p>
            <a:pPr>
              <a:lnSpc>
                <a:spcPct val="125000"/>
              </a:lnSpc>
              <a:spcAft>
                <a:spcPts val="700"/>
              </a:spcAft>
            </a:pPr>
            <a:r>
              <a:rPr sz="1800">
                <a:solidFill>
                  <a:srgbClr val="222222"/>
                </a:solidFill>
                <a:latin typeface="微软雅黑"/>
              </a:rPr>
              <a:t>• 事件覆盖相关语义安全层：权重 w 随覆盖变化，数值安全层消融隔离语义/机制贡献</a:t>
            </a:r>
          </a:p>
          <a:p>
            <a:pPr>
              <a:lnSpc>
                <a:spcPct val="125000"/>
              </a:lnSpc>
              <a:spcAft>
                <a:spcPts val="700"/>
              </a:spcAft>
            </a:pPr>
            <a:r>
              <a:rPr sz="1800">
                <a:solidFill>
                  <a:srgbClr val="222222"/>
                </a:solidFill>
                <a:latin typeface="微软雅黑"/>
              </a:rPr>
              <a:t>• 新事件自适应：先验未覆盖负电价事件，松弛正则下 LLM 特征助 SAC 适应（+5,482 元，5/5）</a:t>
            </a:r>
          </a:p>
          <a:p>
            <a:pPr>
              <a:lnSpc>
                <a:spcPct val="125000"/>
              </a:lnSpc>
              <a:spcAft>
                <a:spcPts val="700"/>
              </a:spcAft>
            </a:pPr>
            <a:r>
              <a:rPr sz="1800">
                <a:solidFill>
                  <a:srgbClr val="222222"/>
                </a:solidFill>
                <a:latin typeface="微软雅黑"/>
              </a:rPr>
              <a:t>• 真实电价加真实气象验证：德国 DE-LU 真实价格加 Open-Meteo 真实气象（+2,201 EUR，4/5）</a:t>
            </a:r>
          </a:p>
          <a:p>
            <a:pPr>
              <a:lnSpc>
                <a:spcPct val="125000"/>
              </a:lnSpc>
              <a:spcAft>
                <a:spcPts val="700"/>
              </a:spcAft>
            </a:pPr>
            <a:r>
              <a:rPr sz="1800">
                <a:solidFill>
                  <a:srgbClr val="222222"/>
                </a:solidFill>
                <a:latin typeface="微软雅黑"/>
              </a:rPr>
              <a:t>• 学习型事件覆盖门控：Q 差异无标签信号恢复覆盖分割，权重可自动化</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存在问题与不足</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数据真实性边界：主轨迹为公开数据校准仿真，非实测遥测（OOD 加真实电价已部分缓解）</a:t>
            </a:r>
          </a:p>
          <a:p>
            <a:pPr>
              <a:lnSpc>
                <a:spcPct val="125000"/>
              </a:lnSpc>
              <a:spcAft>
                <a:spcPts val="700"/>
              </a:spcAft>
            </a:pPr>
            <a:r>
              <a:rPr sz="1800">
                <a:solidFill>
                  <a:srgbClr val="222222"/>
                </a:solidFill>
                <a:latin typeface="微软雅黑"/>
              </a:rPr>
              <a:t>• DeepSeek 相对关键词编码器的独特优势待专用对比坐实</a:t>
            </a:r>
          </a:p>
          <a:p>
            <a:pPr>
              <a:lnSpc>
                <a:spcPct val="125000"/>
              </a:lnSpc>
              <a:spcAft>
                <a:spcPts val="700"/>
              </a:spcAft>
            </a:pPr>
            <a:r>
              <a:rPr sz="1800">
                <a:solidFill>
                  <a:srgbClr val="222222"/>
                </a:solidFill>
                <a:latin typeface="微软雅黑"/>
              </a:rPr>
              <a:t>• 统计方法已修正：种子配对 bootstrap 加 Wilcoxon（旧版 3 均值 bootstrap CI 过窄已替换）</a:t>
            </a:r>
          </a:p>
          <a:p>
            <a:pPr>
              <a:lnSpc>
                <a:spcPct val="125000"/>
              </a:lnSpc>
              <a:spcAft>
                <a:spcPts val="700"/>
              </a:spcAft>
            </a:pPr>
            <a:r>
              <a:rPr sz="1800">
                <a:solidFill>
                  <a:srgbClr val="222222"/>
                </a:solidFill>
                <a:latin typeface="微软雅黑"/>
              </a:rPr>
              <a:t>• 完整 MILP/MPC 滚动优化基线在相同约束下对比仍需补</a:t>
            </a:r>
          </a:p>
          <a:p>
            <a:pPr>
              <a:lnSpc>
                <a:spcPct val="125000"/>
              </a:lnSpc>
              <a:spcAft>
                <a:spcPts val="700"/>
              </a:spcAft>
            </a:pPr>
            <a:r>
              <a:rPr sz="1800">
                <a:solidFill>
                  <a:srgbClr val="222222"/>
                </a:solidFill>
                <a:latin typeface="微软雅黑"/>
              </a:rPr>
              <a:t>• 门控仅演示覆盖分割可学，混合动作奖励最优化待做</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下一步研究计划</a:t>
            </a:r>
          </a:p>
        </p:txBody>
      </p:sp>
      <p:graphicFrame>
        <p:nvGraphicFramePr>
          <p:cNvPr id="5" name="Table 4"/>
          <p:cNvGraphicFramePr>
            <a:graphicFrameLocks noGrp="1"/>
          </p:cNvGraphicFramePr>
          <p:nvPr/>
        </p:nvGraphicFramePr>
        <p:xfrm>
          <a:off x="731520" y="1097280"/>
          <a:ext cx="10424160" cy="2304288"/>
        </p:xfrm>
        <a:graphic>
          <a:graphicData uri="http://schemas.openxmlformats.org/drawingml/2006/table">
            <a:tbl>
              <a:tblPr firstRow="1" bandRow="1">
                <a:tableStyleId>{5C22544A-7EE6-4342-B048-85BDC9FD1C3A}</a:tableStyleId>
              </a:tblPr>
              <a:tblGrid>
                <a:gridCol w="3474720"/>
                <a:gridCol w="3474720"/>
                <a:gridCol w="3474720"/>
              </a:tblGrid>
              <a:tr h="384048">
                <a:tc>
                  <a:txBody>
                    <a:bodyPr wrap="square"/>
                    <a:lstStyle/>
                    <a:p>
                      <a:pPr algn="ctr"/>
                      <a:r>
                        <a:rPr sz="1400" b="1">
                          <a:solidFill>
                            <a:srgbClr val="FFFFFF"/>
                          </a:solidFill>
                          <a:latin typeface="微软雅黑"/>
                        </a:rPr>
                        <a:t>阶段</a:t>
                      </a:r>
                    </a:p>
                  </a:txBody>
                  <a:tcPr>
                    <a:solidFill>
                      <a:srgbClr val="1F3A5F"/>
                    </a:solidFill>
                  </a:tcPr>
                </a:tc>
                <a:tc>
                  <a:txBody>
                    <a:bodyPr wrap="square"/>
                    <a:lstStyle/>
                    <a:p>
                      <a:pPr algn="ctr"/>
                      <a:r>
                        <a:rPr sz="1400" b="1">
                          <a:solidFill>
                            <a:srgbClr val="FFFFFF"/>
                          </a:solidFill>
                          <a:latin typeface="微软雅黑"/>
                        </a:rPr>
                        <a:t>时间</a:t>
                      </a:r>
                    </a:p>
                  </a:txBody>
                  <a:tcPr>
                    <a:solidFill>
                      <a:srgbClr val="1F3A5F"/>
                    </a:solidFill>
                  </a:tcPr>
                </a:tc>
                <a:tc>
                  <a:txBody>
                    <a:bodyPr wrap="square"/>
                    <a:lstStyle/>
                    <a:p>
                      <a:pPr algn="ctr"/>
                      <a:r>
                        <a:rPr sz="1400" b="1">
                          <a:solidFill>
                            <a:srgbClr val="FFFFFF"/>
                          </a:solidFill>
                          <a:latin typeface="微软雅黑"/>
                        </a:rPr>
                        <a:t>主要工作</a:t>
                      </a:r>
                    </a:p>
                  </a:txBody>
                  <a:tcPr>
                    <a:solidFill>
                      <a:srgbClr val="1F3A5F"/>
                    </a:solidFill>
                  </a:tcPr>
                </a:tc>
              </a:tr>
              <a:tr h="384048">
                <a:tc>
                  <a:txBody>
                    <a:bodyPr wrap="square"/>
                    <a:lstStyle/>
                    <a:p>
                      <a:pPr algn="l"/>
                      <a:r>
                        <a:rPr sz="1300">
                          <a:solidFill>
                            <a:srgbClr val="222222"/>
                          </a:solidFill>
                          <a:latin typeface="微软雅黑"/>
                        </a:rPr>
                        <a:t>中期答辩</a:t>
                      </a:r>
                    </a:p>
                  </a:txBody>
                  <a:tcPr>
                    <a:solidFill>
                      <a:srgbClr val="F2F5F9"/>
                    </a:solidFill>
                  </a:tcPr>
                </a:tc>
                <a:tc>
                  <a:txBody>
                    <a:bodyPr wrap="square"/>
                    <a:lstStyle/>
                    <a:p>
                      <a:pPr algn="ctr"/>
                      <a:r>
                        <a:rPr sz="1300">
                          <a:solidFill>
                            <a:srgbClr val="222222"/>
                          </a:solidFill>
                          <a:latin typeface="微软雅黑"/>
                        </a:rPr>
                        <a:t>2026.07</a:t>
                      </a:r>
                    </a:p>
                  </a:txBody>
                  <a:tcPr>
                    <a:solidFill>
                      <a:srgbClr val="F2F5F9"/>
                    </a:solidFill>
                  </a:tcPr>
                </a:tc>
                <a:tc>
                  <a:txBody>
                    <a:bodyPr wrap="square"/>
                    <a:lstStyle/>
                    <a:p>
                      <a:pPr algn="ctr"/>
                      <a:r>
                        <a:rPr sz="1300">
                          <a:solidFill>
                            <a:srgbClr val="222222"/>
                          </a:solidFill>
                          <a:latin typeface="微软雅黑"/>
                        </a:rPr>
                        <a:t>完成中期检查，汇总专家意见</a:t>
                      </a:r>
                    </a:p>
                  </a:txBody>
                  <a:tcPr>
                    <a:solidFill>
                      <a:srgbClr val="F2F5F9"/>
                    </a:solidFill>
                  </a:tcPr>
                </a:tc>
              </a:tr>
              <a:tr h="384048">
                <a:tc>
                  <a:txBody>
                    <a:bodyPr wrap="square"/>
                    <a:lstStyle/>
                    <a:p>
                      <a:pPr algn="l"/>
                      <a:r>
                        <a:rPr sz="1300">
                          <a:solidFill>
                            <a:srgbClr val="222222"/>
                          </a:solidFill>
                          <a:latin typeface="微软雅黑"/>
                        </a:rPr>
                        <a:t>实验完善</a:t>
                      </a:r>
                    </a:p>
                  </a:txBody>
                  <a:tcPr>
                    <a:solidFill>
                      <a:srgbClr val="FFFFFF"/>
                    </a:solidFill>
                  </a:tcPr>
                </a:tc>
                <a:tc>
                  <a:txBody>
                    <a:bodyPr wrap="square"/>
                    <a:lstStyle/>
                    <a:p>
                      <a:pPr algn="ctr"/>
                      <a:r>
                        <a:rPr sz="1300">
                          <a:solidFill>
                            <a:srgbClr val="222222"/>
                          </a:solidFill>
                          <a:latin typeface="微软雅黑"/>
                        </a:rPr>
                        <a:t>2026.08–10</a:t>
                      </a:r>
                    </a:p>
                  </a:txBody>
                  <a:tcPr>
                    <a:solidFill>
                      <a:srgbClr val="FFFFFF"/>
                    </a:solidFill>
                  </a:tcPr>
                </a:tc>
                <a:tc>
                  <a:txBody>
                    <a:bodyPr wrap="square"/>
                    <a:lstStyle/>
                    <a:p>
                      <a:pPr algn="ctr"/>
                      <a:r>
                        <a:rPr sz="1300">
                          <a:solidFill>
                            <a:srgbClr val="222222"/>
                          </a:solidFill>
                          <a:latin typeface="微软雅黑"/>
                        </a:rPr>
                        <a:t>DeepSeek vs 关键词/noisy 消融；完整 MILP/MPC 基线；门控奖励最优化</a:t>
                      </a:r>
                    </a:p>
                  </a:txBody>
                  <a:tcPr>
                    <a:solidFill>
                      <a:srgbClr val="FFFFFF"/>
                    </a:solidFill>
                  </a:tcPr>
                </a:tc>
              </a:tr>
              <a:tr h="384048">
                <a:tc>
                  <a:txBody>
                    <a:bodyPr wrap="square"/>
                    <a:lstStyle/>
                    <a:p>
                      <a:pPr algn="l"/>
                      <a:r>
                        <a:rPr sz="1300">
                          <a:solidFill>
                            <a:srgbClr val="222222"/>
                          </a:solidFill>
                          <a:latin typeface="微软雅黑"/>
                        </a:rPr>
                        <a:t>论文定稿</a:t>
                      </a:r>
                    </a:p>
                  </a:txBody>
                  <a:tcPr>
                    <a:solidFill>
                      <a:srgbClr val="F2F5F9"/>
                    </a:solidFill>
                  </a:tcPr>
                </a:tc>
                <a:tc>
                  <a:txBody>
                    <a:bodyPr wrap="square"/>
                    <a:lstStyle/>
                    <a:p>
                      <a:pPr algn="ctr"/>
                      <a:r>
                        <a:rPr sz="1300">
                          <a:solidFill>
                            <a:srgbClr val="222222"/>
                          </a:solidFill>
                          <a:latin typeface="微软雅黑"/>
                        </a:rPr>
                        <a:t>2026.11–12</a:t>
                      </a:r>
                    </a:p>
                  </a:txBody>
                  <a:tcPr>
                    <a:solidFill>
                      <a:srgbClr val="F2F5F9"/>
                    </a:solidFill>
                  </a:tcPr>
                </a:tc>
                <a:tc>
                  <a:txBody>
                    <a:bodyPr wrap="square"/>
                    <a:lstStyle/>
                    <a:p>
                      <a:pPr algn="ctr"/>
                      <a:r>
                        <a:rPr sz="1300">
                          <a:solidFill>
                            <a:srgbClr val="222222"/>
                          </a:solidFill>
                          <a:latin typeface="微软雅黑"/>
                        </a:rPr>
                        <a:t>IEEE Access 投稿修订；学位论文各章定稿</a:t>
                      </a:r>
                    </a:p>
                  </a:txBody>
                  <a:tcPr>
                    <a:solidFill>
                      <a:srgbClr val="F2F5F9"/>
                    </a:solidFill>
                  </a:tcPr>
                </a:tc>
              </a:tr>
              <a:tr h="384048">
                <a:tc>
                  <a:txBody>
                    <a:bodyPr wrap="square"/>
                    <a:lstStyle/>
                    <a:p>
                      <a:pPr algn="l"/>
                      <a:r>
                        <a:rPr sz="1300">
                          <a:solidFill>
                            <a:srgbClr val="222222"/>
                          </a:solidFill>
                          <a:latin typeface="微软雅黑"/>
                        </a:rPr>
                        <a:t>预答辩送审</a:t>
                      </a:r>
                    </a:p>
                  </a:txBody>
                  <a:tcPr>
                    <a:solidFill>
                      <a:srgbClr val="FFFFFF"/>
                    </a:solidFill>
                  </a:tcPr>
                </a:tc>
                <a:tc>
                  <a:txBody>
                    <a:bodyPr wrap="square"/>
                    <a:lstStyle/>
                    <a:p>
                      <a:pPr algn="ctr"/>
                      <a:r>
                        <a:rPr sz="1300">
                          <a:solidFill>
                            <a:srgbClr val="222222"/>
                          </a:solidFill>
                          <a:latin typeface="微软雅黑"/>
                        </a:rPr>
                        <a:t>2027.01–03</a:t>
                      </a:r>
                    </a:p>
                  </a:txBody>
                  <a:tcPr>
                    <a:solidFill>
                      <a:srgbClr val="FFFFFF"/>
                    </a:solidFill>
                  </a:tcPr>
                </a:tc>
                <a:tc>
                  <a:txBody>
                    <a:bodyPr wrap="square"/>
                    <a:lstStyle/>
                    <a:p>
                      <a:pPr algn="ctr"/>
                      <a:r>
                        <a:rPr sz="1300">
                          <a:solidFill>
                            <a:srgbClr val="222222"/>
                          </a:solidFill>
                          <a:latin typeface="微软雅黑"/>
                        </a:rPr>
                        <a:t>查重、预答辩、外审修改</a:t>
                      </a:r>
                    </a:p>
                  </a:txBody>
                  <a:tcPr>
                    <a:solidFill>
                      <a:srgbClr val="FFFFFF"/>
                    </a:solidFill>
                  </a:tcPr>
                </a:tc>
              </a:tr>
              <a:tr h="384048">
                <a:tc>
                  <a:txBody>
                    <a:bodyPr wrap="square"/>
                    <a:lstStyle/>
                    <a:p>
                      <a:pPr algn="l"/>
                      <a:r>
                        <a:rPr sz="1300">
                          <a:solidFill>
                            <a:srgbClr val="222222"/>
                          </a:solidFill>
                          <a:latin typeface="微软雅黑"/>
                        </a:rPr>
                        <a:t>答辩</a:t>
                      </a:r>
                    </a:p>
                  </a:txBody>
                  <a:tcPr>
                    <a:solidFill>
                      <a:srgbClr val="F2F5F9"/>
                    </a:solidFill>
                  </a:tcPr>
                </a:tc>
                <a:tc>
                  <a:txBody>
                    <a:bodyPr wrap="square"/>
                    <a:lstStyle/>
                    <a:p>
                      <a:pPr algn="ctr"/>
                      <a:r>
                        <a:rPr sz="1300">
                          <a:solidFill>
                            <a:srgbClr val="222222"/>
                          </a:solidFill>
                          <a:latin typeface="微软雅黑"/>
                        </a:rPr>
                        <a:t>2027 上半年</a:t>
                      </a:r>
                    </a:p>
                  </a:txBody>
                  <a:tcPr>
                    <a:solidFill>
                      <a:srgbClr val="F2F5F9"/>
                    </a:solidFill>
                  </a:tcPr>
                </a:tc>
                <a:tc>
                  <a:txBody>
                    <a:bodyPr wrap="square"/>
                    <a:lstStyle/>
                    <a:p>
                      <a:pPr algn="ctr"/>
                      <a:r>
                        <a:rPr sz="1300">
                          <a:solidFill>
                            <a:srgbClr val="222222"/>
                          </a:solidFill>
                          <a:latin typeface="微软雅黑"/>
                        </a:rPr>
                        <a:t>学位论文答辩</a:t>
                      </a:r>
                    </a:p>
                  </a:txBody>
                  <a:tcPr>
                    <a:solidFill>
                      <a:srgbClr val="F2F5F9"/>
                    </a:solidFill>
                  </a:tcPr>
                </a:tc>
              </a:tr>
            </a:tbl>
          </a:graphicData>
        </a:graphic>
      </p:graphicFrame>
      <p:sp>
        <p:nvSpPr>
          <p:cNvPr id="6" name="TextBox 5"/>
          <p:cNvSpPr txBox="1"/>
          <p:nvPr/>
        </p:nvSpPr>
        <p:spPr>
          <a:xfrm>
            <a:off x="548640" y="3538728"/>
            <a:ext cx="10972800" cy="2907792"/>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重点：补 LLM 独特性论证 / 完整优化基线 / 实测数据验证 / 门控与安全约束 / 学位论文写作</a:t>
            </a:r>
          </a:p>
        </p:txBody>
      </p:sp>
      <p:sp>
        <p:nvSpPr>
          <p:cNvPr id="7" name="TextBox 6"/>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640080"/>
          </a:xfrm>
          <a:prstGeom prst="rect">
            <a:avLst/>
          </a:prstGeom>
          <a:noFill/>
        </p:spPr>
        <p:txBody>
          <a:bodyPr wrap="square">
            <a:spAutoFit/>
          </a:bodyPr>
          <a:lstStyle/>
          <a:p>
            <a:pPr algn="l"/>
            <a:r>
              <a:rPr sz="2600" b="1">
                <a:solidFill>
                  <a:srgbClr val="FFFFFF"/>
                </a:solidFill>
                <a:latin typeface="微软雅黑"/>
              </a:rPr>
              <a:t>总结与致谢</a:t>
            </a:r>
          </a:p>
        </p:txBody>
      </p:sp>
      <p:sp>
        <p:nvSpPr>
          <p:cNvPr id="5" name="TextBox 4"/>
          <p:cNvSpPr txBox="1"/>
          <p:nvPr/>
        </p:nvSpPr>
        <p:spPr>
          <a:xfrm>
            <a:off x="548640" y="1097280"/>
            <a:ext cx="10972800" cy="5349240"/>
          </a:xfrm>
          <a:prstGeom prst="rect">
            <a:avLst/>
          </a:prstGeom>
          <a:noFill/>
        </p:spPr>
        <p:txBody>
          <a:bodyPr wrap="square">
            <a:spAutoFit/>
          </a:bodyPr>
          <a:lstStyle/>
          <a:p>
            <a:pPr>
              <a:lnSpc>
                <a:spcPct val="125000"/>
              </a:lnSpc>
              <a:spcAft>
                <a:spcPts val="700"/>
              </a:spcAft>
            </a:pPr>
            <a:r>
              <a:rPr sz="1800">
                <a:solidFill>
                  <a:srgbClr val="222222"/>
                </a:solidFill>
                <a:latin typeface="微软雅黑"/>
              </a:rPr>
              <a:t>• 已构建语言增强 SAC 加语义安全层加新事件自适应加真实电价验证加学习型门控完整闭环</a:t>
            </a:r>
          </a:p>
          <a:p>
            <a:pPr>
              <a:lnSpc>
                <a:spcPct val="125000"/>
              </a:lnSpc>
              <a:spcAft>
                <a:spcPts val="700"/>
              </a:spcAft>
            </a:pPr>
            <a:r>
              <a:rPr sz="1800">
                <a:solidFill>
                  <a:srgbClr val="222222"/>
                </a:solidFill>
                <a:latin typeface="微软雅黑"/>
              </a:rPr>
              <a:t>• 核心结论：LLM 语义特征可提升 VPP 调度事件感知能力，且可迁移至真实电价</a:t>
            </a:r>
          </a:p>
          <a:p>
            <a:pPr>
              <a:lnSpc>
                <a:spcPct val="125000"/>
              </a:lnSpc>
              <a:spcAft>
                <a:spcPts val="700"/>
              </a:spcAft>
            </a:pPr>
            <a:r>
              <a:rPr sz="1800">
                <a:solidFill>
                  <a:srgbClr val="222222"/>
                </a:solidFill>
                <a:latin typeface="微软雅黑"/>
              </a:rPr>
              <a:t>• 核心立场：LLM 作顾问而非决策器，最终动作确定、可审计、物理可行</a:t>
            </a:r>
          </a:p>
          <a:p>
            <a:pPr>
              <a:lnSpc>
                <a:spcPct val="125000"/>
              </a:lnSpc>
              <a:spcAft>
                <a:spcPts val="700"/>
              </a:spcAft>
            </a:pPr>
            <a:r>
              <a:rPr sz="1800">
                <a:solidFill>
                  <a:srgbClr val="222222"/>
                </a:solidFill>
                <a:latin typeface="微软雅黑"/>
              </a:rPr>
              <a:t>• </a:t>
            </a:r>
          </a:p>
          <a:p>
            <a:pPr>
              <a:lnSpc>
                <a:spcPct val="125000"/>
              </a:lnSpc>
              <a:spcAft>
                <a:spcPts val="700"/>
              </a:spcAft>
            </a:pPr>
            <a:r>
              <a:rPr sz="1800">
                <a:solidFill>
                  <a:srgbClr val="222222"/>
                </a:solidFill>
                <a:latin typeface="微软雅黑"/>
              </a:rPr>
              <a:t>• 恳请各位老师批评指正！</a:t>
            </a:r>
          </a:p>
        </p:txBody>
      </p:sp>
      <p:sp>
        <p:nvSpPr>
          <p:cNvPr id="6" name="TextBox 5"/>
          <p:cNvSpPr txBox="1"/>
          <p:nvPr/>
        </p:nvSpPr>
        <p:spPr>
          <a:xfrm>
            <a:off x="274320" y="6492240"/>
            <a:ext cx="11247120" cy="274320"/>
          </a:xfrm>
          <a:prstGeom prst="rect">
            <a:avLst/>
          </a:prstGeom>
          <a:noFill/>
        </p:spPr>
        <p:txBody>
          <a:bodyPr wrap="none">
            <a:spAutoFit/>
          </a:bodyPr>
          <a:lstStyle/>
          <a:p>
            <a:pPr algn="r"/>
            <a:r>
              <a:rPr sz="1000">
                <a:solidFill>
                  <a:srgbClr val="555555"/>
                </a:solidFill>
                <a:latin typeface="微软雅黑"/>
              </a:rPr>
              <a:t>中期答辩 | 李星辰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